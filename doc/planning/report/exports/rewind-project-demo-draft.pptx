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4a27f81a9f41e4" /><Relationship Type="http://schemas.openxmlformats.org/officeDocument/2006/relationships/extended-properties" Target="/docProps/app.xml" Id="R3317e57e98394338" /><Relationship Type="http://schemas.openxmlformats.org/officeDocument/2006/relationships/officeDocument" Target="/ppt/presentation.xml" Id="Ra88a35670b484f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8c86503285465b"/>
  </p:sldMasterIdLst>
  <p:notesMasterIdLst>
    <p:notesMasterId xmlns:r="http://schemas.openxmlformats.org/officeDocument/2006/relationships" r:id="R432f45e42a434287"/>
  </p:notesMasterIdLst>
  <p:sldIdLst>
    <p:sldId xmlns:r="http://schemas.openxmlformats.org/officeDocument/2006/relationships" id="256" r:id="R3feae789b62e44e1"/>
    <p:sldId xmlns:r="http://schemas.openxmlformats.org/officeDocument/2006/relationships" id="257" r:id="Rf035696f29234088"/>
    <p:sldId xmlns:r="http://schemas.openxmlformats.org/officeDocument/2006/relationships" id="258" r:id="R25200ac07cc94f62"/>
    <p:sldId xmlns:r="http://schemas.openxmlformats.org/officeDocument/2006/relationships" id="259" r:id="R8a75949f8d194f85"/>
    <p:sldId xmlns:r="http://schemas.openxmlformats.org/officeDocument/2006/relationships" id="260" r:id="Rffa6329661184b18"/>
    <p:sldId xmlns:r="http://schemas.openxmlformats.org/officeDocument/2006/relationships" id="261" r:id="R1cb3511291c94008"/>
    <p:sldId xmlns:r="http://schemas.openxmlformats.org/officeDocument/2006/relationships" id="262" r:id="R0bf511c8cbfb4ab6"/>
    <p:sldId xmlns:r="http://schemas.openxmlformats.org/officeDocument/2006/relationships" id="263" r:id="R1891610ba08041ed"/>
    <p:sldId xmlns:r="http://schemas.openxmlformats.org/officeDocument/2006/relationships" id="264" r:id="R92dabc8031594e1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23a3ecf6304bb9" /><Relationship Type="http://schemas.openxmlformats.org/officeDocument/2006/relationships/slideMaster" Target="/ppt/slideMasters/slideMaster1.xml" Id="R598c86503285465b" /><Relationship Type="http://schemas.openxmlformats.org/officeDocument/2006/relationships/notesMaster" Target="/ppt/notesMasters/notesMaster1.xml" Id="R432f45e42a434287" /><Relationship Type="http://schemas.openxmlformats.org/officeDocument/2006/relationships/presProps" Target="/ppt/presProps.xml" Id="R5d0f5511c94c49cc" /><Relationship Type="http://schemas.openxmlformats.org/officeDocument/2006/relationships/tableStyles" Target="/ppt/tableStyles.xml" Id="R1f2c0a2896bd4d27" /><Relationship Type="http://schemas.openxmlformats.org/officeDocument/2006/relationships/slide" Target="/ppt/slides/slide1.xml" Id="R3feae789b62e44e1" /><Relationship Type="http://schemas.openxmlformats.org/officeDocument/2006/relationships/slide" Target="/ppt/slides/slide2.xml" Id="Rf035696f29234088" /><Relationship Type="http://schemas.openxmlformats.org/officeDocument/2006/relationships/slide" Target="/ppt/slides/slide3.xml" Id="R25200ac07cc94f62" /><Relationship Type="http://schemas.openxmlformats.org/officeDocument/2006/relationships/slide" Target="/ppt/slides/slide4.xml" Id="R8a75949f8d194f85" /><Relationship Type="http://schemas.openxmlformats.org/officeDocument/2006/relationships/slide" Target="/ppt/slides/slide5.xml" Id="Rffa6329661184b18" /><Relationship Type="http://schemas.openxmlformats.org/officeDocument/2006/relationships/slide" Target="/ppt/slides/slide6.xml" Id="R1cb3511291c94008" /><Relationship Type="http://schemas.openxmlformats.org/officeDocument/2006/relationships/slide" Target="/ppt/slides/slide7.xml" Id="R0bf511c8cbfb4ab6" /><Relationship Type="http://schemas.openxmlformats.org/officeDocument/2006/relationships/slide" Target="/ppt/slides/slide8.xml" Id="R1891610ba08041ed" /><Relationship Type="http://schemas.openxmlformats.org/officeDocument/2006/relationships/slide" Target="/ppt/slides/slide9.xml" Id="R92dabc8031594e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ecf2c2c17f40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cda4ce817a4680" /><Relationship Type="http://schemas.openxmlformats.org/officeDocument/2006/relationships/notesMaster" Target="/ppt/notesMasters/notesMaster1.xml" Id="R3d1a5619083344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0f659394de4bd6" /><Relationship Type="http://schemas.openxmlformats.org/officeDocument/2006/relationships/notesMaster" Target="/ppt/notesMasters/notesMaster1.xml" Id="R42e129ea236642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21d5c7450949b1" /><Relationship Type="http://schemas.openxmlformats.org/officeDocument/2006/relationships/notesMaster" Target="/ppt/notesMasters/notesMaster1.xml" Id="R8cdce4ce33be49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cc98c0c2f64102" /><Relationship Type="http://schemas.openxmlformats.org/officeDocument/2006/relationships/notesMaster" Target="/ppt/notesMasters/notesMaster1.xml" Id="Re6cb377f26c34b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41044734a940ca" /><Relationship Type="http://schemas.openxmlformats.org/officeDocument/2006/relationships/notesMaster" Target="/ppt/notesMasters/notesMaster1.xml" Id="Reffb430af5564a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091a69a5b6410c" /><Relationship Type="http://schemas.openxmlformats.org/officeDocument/2006/relationships/notesMaster" Target="/ppt/notesMasters/notesMaster1.xml" Id="Rd37781e8fd4c41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27e8f6be8e9469b" /><Relationship Type="http://schemas.openxmlformats.org/officeDocument/2006/relationships/notesMaster" Target="/ppt/notesMasters/notesMaster1.xml" Id="R84033abb5557499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b8454d9fabb4810" /><Relationship Type="http://schemas.openxmlformats.org/officeDocument/2006/relationships/notesMaster" Target="/ppt/notesMasters/notesMaster1.xml" Id="Rf07b3b77be4842b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a8527e5b86b4759" /><Relationship Type="http://schemas.openxmlformats.org/officeDocument/2006/relationships/notesMaster" Target="/ppt/notesMasters/notesMaster1.xml" Id="Ra3b4860871fb40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Draft for issue #362 and lead-owned PR #397. Accepted application source cut: e82dc427cf27264baec5ed1d1b5bc42b036bac11. Master report source declares factual cut bbcd2bb07179df9313367fd5e1d2afac000af9db. Report content SHA-256: 0e288eb385ab9f2ec13689f3db310d1904964746a04ac07a0575b7c2b4622833. All five report chapters are draft. No human contribution, effort, Scrum outcome, lecturer approval or final compliance acceptance is inferred.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master report §§1.1–1.4; https://github.com/Collaboration95/rewind-app/blob/e82dc427cf27264baec5ed1d1b5bc42b036bac11/doc/planning/context/project-brief.md#L9; https://github.com/Collaboration95/rewind-app/blob/e82dc427cf27264baec5ed1d1b5bc42b036bac11/doc/planning/proposals/proposal-rewind.md. Reduced pressure to curate is the proposal rationale, not a measured study outcome.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Draft for issue #362 and lead-owned PR #397. Accepted application source cut: e82dc427cf27264baec5ed1d1b5bc42b036bac11. Master report source declares factual cut bbcd2bb07179df9313367fd5e1d2afac000af9db. Report content SHA-256: 0e288eb385ab9f2ec13689f3db310d1904964746a04ac07a0575b7c2b4622833. All five report chapters are draft. No human contribution, effort, Scrum outcome, lecturer approval or final compliance acceptance is inferred.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master report §§1.4.1–1.4.2 and 3.3; report diagrams/use-cases-overall.svg SHA-256 1ee8a49e53bedca987c4cbe9313880e9a0d3a54f4dcfc84b9f4a2e51277a0f17; accepted package catalogues under doc/planning/report/packages/access, capture, cycle and participation at e82dc427cf27264baec5ed1d1b5bc42b036bac11. Archive/client scope is traced to master report and current application code. The Archive package is absent from this accepted checkout and is not claimed as accepted here.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Draft for issue #362 and lead-owned PR #397. Accepted application source cut: e82dc427cf27264baec5ed1d1b5bc42b036bac11. Master report source declares factual cut bbcd2bb07179df9313367fd5e1d2afac000af9db. Report content SHA-256: 0e288eb385ab9f2ec13689f3db310d1904964746a04ac07a0575b7c2b4622833. All five report chapters are draft. No human contribution, effort, Scrum outcome, lecturer approval or final compliance acceptance is inferred.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master report §3.1; diagrams/architecture-current.svg SHA-256 83048959148b84bc497bb45b4ec414910dbdebf0d4c0d354a655d1f2d6db7e24; https://github.com/Collaboration95/rewind-app/blob/e82dc427cf27264baec5ed1d1b5bc42b036bac11/docs/domain/session-contract.md; https://github.com/Collaboration95/rewind-app/blob/e82dc427cf27264baec5ed1d1b5bc42b036bac11/docs/architecture/hosted-demo-persistence.md. Native slide objects reuse the source component responsibilities and connections, with horizontal reflow. Prepared S3/direct-upload adapters are not live hosted acceptance.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Draft for issue #362 and lead-owned PR #397. Accepted application source cut: e82dc427cf27264baec5ed1d1b5bc42b036bac11. Master report source declares factual cut bbcd2bb07179df9313367fd5e1d2afac000af9db. Report content SHA-256: 0e288eb385ab9f2ec13689f3db310d1904964746a04ac07a0575b7c2b4622833. All five report chapters are draft. No human contribution, effort, Scrum outcome, lecturer approval or final compliance acceptance is inferred.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https://github.com/Collaboration95/rewind-app/blob/e82dc427cf27264baec5ed1d1b5bc42b036bac11/server/src/contributions/index.ts#L8; https://github.com/Collaboration95/rewind-app/blob/e82dc427cf27264baec5ed1d1b5bc42b036bac11/server/src/contributions/ledger.ts; https://github.com/Collaboration95/rewind-app/blob/e82dc427cf27264baec5ed1d1b5bc42b036bac11/server/src/cycles/lifecycle.ts#L38; https://github.com/Collaboration95/rewind-app/blob/e82dc427cf27264baec5ed1d1b5bc42b036bac11/server/src/archive/capabilities.ts; capture package UC06 and cycle package UC07/UC08. Policy is per member within the source-defined seven-day quota window. Maximum video length is 15 seconds. Photo charges one item and three seconds. These limits are implementation rules, not measured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Draft for issue #362 and lead-owned PR #397. Accepted application source cut: e82dc427cf27264baec5ed1d1b5bc42b036bac11. Master report source declares factual cut bbcd2bb07179df9313367fd5e1d2afac000af9db. Report content SHA-256: 0e288eb385ab9f2ec13689f3db310d1904964746a04ac07a0575b7c2b4622833. All five report chapters are draft. No human contribution, effort, Scrum outcome, lecturer approval or final compliance acceptance is inferred.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https://github.com/Collaboration95/rewind-app/blob/e82dc427cf27264baec5ed1d1b5bc42b036bac11/doc/planning/report/packages/cycle/design-problem.md; https://github.com/Collaboration95/rewind-app/blob/e82dc427cf27264baec5ed1d1b5bc42b036bac11/server/src/cycles/scheduler.ts#L45; https://github.com/Collaboration95/rewind-app/blob/e82dc427cf27264baec5ed1d1b5bc42b036bac11/server/src/cycles/lifecycle.ts#L312; https://github.com/Collaboration95/rewind-app/blob/e82dc427cf27264baec5ed1d1b5bc42b036bac11/server/src/jobs/index.ts#L599; https://github.com/Collaboration95/rewind-app/blob/e82dc427cf27264baec5ed1d1b5bc42b036bac11/server/src/jobs/index.ts#L899. The before model is a hypothetical alternative. Rewind has no invented State or Command class hierarchy. The selected source design uses functions and persisted records, with claim-generation fencing.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Draft for issue #362 and lead-owned PR #397. Accepted application source cut: e82dc427cf27264baec5ed1d1b5bc42b036bac11. Master report source declares factual cut bbcd2bb07179df9313367fd5e1d2afac000af9db. Report content SHA-256: 0e288eb385ab9f2ec13689f3db310d1904964746a04ac07a0575b7c2b4622833. All five report chapters are draft. No human contribution, effort, Scrum outcome, lecturer approval or final compliance acceptance is inferred.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master report §3.1 and final draft gates; diagrams/architecture-future.svg SHA-256 e65068c3fdd58756feed3e0466ad564dd0f77da9f6c258deca7404f22ed84c98; issues #363/#364 OIDC, #261 PostgreSQL, #175 managed recovery, #365–#367 pre-upload retro. This is a future target. It does not claim deployed identity/storage/provider activation or final native acceptance. Native slide objects preserve the source responsibilities and connections with a horizontal reflow.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Draft for issue #362 and lead-owned PR #397. Accepted application source cut: e82dc427cf27264baec5ed1d1b5bc42b036bac11. Master report source declares factual cut bbcd2bb07179df9313367fd5e1d2afac000af9db. Report content SHA-256: 0e288eb385ab9f2ec13689f3db310d1904964746a04ac07a0575b7c2b4622833. All five report chapters are draft. No human contribution, effort, Scrum outcome, lecturer approval or final compliance acceptance is inferred.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https://github.com/Collaboration95/rewind-app/blob/e82dc427cf27264baec5ed1d1b5bc42b036bac11/doc/planning/context/project-brief.md#L9; master report §§2, 3, 4 and 5; issue #362 execution contract. Backlog/PR artifacts establish workflow records, not unrecorded Scrum outcomes or individual effort. Full model incorporation and factual human use-case/pattern ownership remain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Draft for issue #362 and lead-owned PR #397. Accepted application source cut: e82dc427cf27264baec5ed1d1b5bc42b036bac11. Master report source declares factual cut bbcd2bb07179df9313367fd5e1d2afac000af9db. Report content SHA-256: 0e288eb385ab9f2ec13689f3db310d1904964746a04ac07a0575b7c2b4622833. All five report chapters are draft. No human contribution, effort, Scrum outcome, lecturer approval or final compliance acceptance is inferred.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PR #387 merged f1d74c510ecff566a25b1449daa8352befa9f00c; #388 merged da96b2444e7fb1f7ff2867c6b003a88eccba2f9d; #392 merged 7827a5b42d57e62e6e6c829b07665cbcd650592c; #396 tested edc8fc9506e4992891cc93109ad859af99f0d93f and merged bbcd2bb07179df9313367fd5e1d2afac000af9db. #396 body records two fresh strict HTTPS Firefox journeys and cleanup. Deploy dev runs https://github.com/Collaboration95/rewind-app/actions/runs/37143129969 and https://github.com/Collaboration95/rewind-app/actions/runs/37143383024 failed [Errno 28] No space left on device during host-side bundle verification/staging, before activation. No new product test or fixture ran for this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Draft for issue #362 and lead-owned PR #397. Accepted application source cut: e82dc427cf27264baec5ed1d1b5bc42b036bac11. Master report source declares factual cut bbcd2bb07179df9313367fd5e1d2afac000af9db. Report content SHA-256: 0e288eb385ab9f2ec13689f3db310d1904964746a04ac07a0575b7c2b4622833. All five report chapters are draft. No human contribution, effort, Scrum outcome, lecturer approval or final compliance acceptance is inferred.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presentation/demo-script.md; https://github.com/Collaboration95/rewind-app/blob/e82dc427cf27264baec5ed1d1b5bc42b036bac11/scripts/run-real-account-e2e.mjs#L151; https://github.com/Collaboration95/rewind-app/blob/e82dc427cf27264baec5ed1d1b5bc42b036bac11/tests/e2e-real-account/real-account.spec.mjs#L312; https://github.com/Collaboration95/rewind-app/blob/e82dc427cf27264baec5ed1d1b5bc42b036bac11/tests/e2e-real-account/chat-verification.mjs#L27; https://github.com/Collaboration95/rewind-app/blob/e82dc427cf27264baec5ed1d1b5bc42b036bac11/tests/e2e-real-account/group-switch-verification.mjs#L59. Existing runner is headless Firefox, strict HTTPS, Demo disabled, owned ports/data/profile and synthetic media. Cycle timing is controlled only in the disposable fixture database. The route is a planned narration tied to accepted assertions, not a newly executed rehearsal, physical recording or hosted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a9dc35c4ae46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c31ab044cf4fa0" /><Relationship Type="http://schemas.openxmlformats.org/officeDocument/2006/relationships/slideLayout" Target="/ppt/slideLayouts/slideLayout1.xml" Id="R12395c03727c45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395c03727c45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0d268741974b8b" /><Relationship Type="http://schemas.openxmlformats.org/officeDocument/2006/relationships/notesSlide" Target="/ppt/notesSlides/notesSlide1.xml" Id="Rafb182b8817549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be2159c50b438e" /><Relationship Type="http://schemas.openxmlformats.org/officeDocument/2006/relationships/notesSlide" Target="/ppt/notesSlides/notesSlide2.xml" Id="R898f6440441948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53b47796f34c4f" /><Relationship Type="http://schemas.openxmlformats.org/officeDocument/2006/relationships/notesSlide" Target="/ppt/notesSlides/notesSlide3.xml" Id="Rbcadf5fb11ec4f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e35468168a46e4" /><Relationship Type="http://schemas.openxmlformats.org/officeDocument/2006/relationships/notesSlide" Target="/ppt/notesSlides/notesSlide4.xml" Id="R2b93b91a81f448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0aeacbec7146a3" /><Relationship Type="http://schemas.openxmlformats.org/officeDocument/2006/relationships/notesSlide" Target="/ppt/notesSlides/notesSlide5.xml" Id="Rf0c5471f67564e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8b70e997b4439a" /><Relationship Type="http://schemas.openxmlformats.org/officeDocument/2006/relationships/notesSlide" Target="/ppt/notesSlides/notesSlide6.xml" Id="R5d502479ab4940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f8f21030cd4b8b" /><Relationship Type="http://schemas.openxmlformats.org/officeDocument/2006/relationships/notesSlide" Target="/ppt/notesSlides/notesSlide7.xml" Id="R5109ad0e974046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201343c9664f49" /><Relationship Type="http://schemas.openxmlformats.org/officeDocument/2006/relationships/notesSlide" Target="/ppt/notesSlides/notesSlide8.xml" Id="R7817b596266d4e6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861c05ffc74445" /><Relationship Type="http://schemas.openxmlformats.org/officeDocument/2006/relationships/notesSlide" Target="/ppt/notesSlides/notesSlide9.xml" Id="Rdbb9f6574b1c41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15491D-8394-4CDE-AB70-39E6FADB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29241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29241F"/>
                </a:solidFill>
                <a:latin typeface="Arial"/>
                <a:ea typeface="Arial"/>
                <a:cs typeface="Arial"/>
              </a:rPr>
              <a:t>Rewind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44CFBB-89CC-498A-8A60-F94CFB91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1009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9241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29241F"/>
                </a:solidFill>
                <a:latin typeface="Arial"/>
                <a:ea typeface="Arial"/>
                <a:cs typeface="Arial"/>
              </a:rPr>
              <a:t>Private memories for close friends living apart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156CFF-9CE8-420E-A2CB-BB4125A3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924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9241F"/>
                </a:solidFill>
                <a:latin typeface="Arial"/>
                <a:ea typeface="Arial"/>
                <a:cs typeface="Arial"/>
              </a:rPr>
              <a:t>Ordinary moments enter a sealed capsule.</a:t>
            </a:r>
          </a:p>
          <a:p xmlns:a="http://schemas.openxmlformats.org/drawingml/2006/main">
            <a:pPr algn="l">
              <a:defRPr sz="2400" b="0">
                <a:solidFill>
                  <a:srgbClr val="2924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9241F"/>
                </a:solidFill>
                <a:latin typeface="Arial"/>
                <a:ea typeface="Arial"/>
                <a:cs typeface="Arial"/>
              </a:rPr>
              <a:t>A later shared film returns them to the group.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15D037-FC69-498E-8195-3EBB515C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B62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B6258"/>
                </a:solidFill>
                <a:latin typeface="Arial"/>
                <a:ea typeface="Arial"/>
                <a:cs typeface="Arial"/>
              </a:rPr>
              <a:t>SWE5006 Practice Module</a:t>
            </a:r>
          </a:p>
          <a:p xmlns:a="http://schemas.openxmlformats.org/drawingml/2006/main">
            <a:pPr algn="l">
              <a:defRPr sz="1650" b="0">
                <a:solidFill>
                  <a:srgbClr val="6B62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B6258"/>
                </a:solidFill>
                <a:latin typeface="Arial"/>
                <a:ea typeface="Arial"/>
                <a:cs typeface="Arial"/>
              </a:rPr>
              <a:t>Sprint 2 presentation and demo draft</a:t>
            </a:r>
          </a:p>
        </p:txBody>
      </p:sp>
    </p:spTree>
    <p:extLst>
      <p:ext uri="{BB962C8B-B14F-4D97-AF65-F5344CB8AC3E}">
        <p14:creationId xmlns:p14="http://schemas.microsoft.com/office/powerpoint/2010/main" val="20870190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5EF231-7DDE-48E3-A3BD-5A259E0E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924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241F"/>
                </a:solidFill>
                <a:latin typeface="Arial"/>
                <a:ea typeface="Arial"/>
                <a:cs typeface="Arial"/>
              </a:rPr>
              <a:t>The private group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ACF8AD-1C5F-4BE8-B541-390D2532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A57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0290EE-7901-4929-8CEF-FE21513B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62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B6258"/>
                </a:solidFill>
                <a:latin typeface="Arial"/>
                <a:ea typeface="Arial"/>
                <a:cs typeface="Arial"/>
              </a:rPr>
              <a:t>Sprint 2 draft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839AF5-4F63-491A-9C47-BD2E79A8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484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B62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B625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71750"/>
                <a:gridCol w="2190750"/>
                <a:gridCol w="6210300"/>
              </a:tblGrid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9241F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133350" marR="133350" marT="95250" marB="95250" anchor="ctr">
                    <a:solidFill>
                      <a:srgbClr val="FFF0E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9241F"/>
                          </a:solidFill>
                          <a:latin typeface="Arial"/>
                          <a:ea typeface="Arial"/>
                          <a:cs typeface="Arial"/>
                        </a:rPr>
                        <a:t>Use cases</a:t>
                      </a:r>
                    </a:p>
                  </a:txBody>
                  <a:tcPr marL="133350" marR="133350" marT="95250" marB="95250" anchor="ctr">
                    <a:solidFill>
                      <a:srgbClr val="FFF0E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9241F"/>
                          </a:solidFill>
                          <a:latin typeface="Arial"/>
                          <a:ea typeface="Arial"/>
                          <a:cs typeface="Arial"/>
                        </a:rPr>
                        <a:t>User-visible purpose</a:t>
                      </a:r>
                    </a:p>
                  </a:txBody>
                  <a:tcPr marL="133350" marR="133350" marT="95250" marB="95250" anchor="ctr">
                    <a:solidFill>
                      <a:srgbClr val="FFF0E4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241F"/>
                          </a:solidFill>
                          <a:latin typeface="Arial"/>
                          <a:ea typeface="Arial"/>
                          <a:cs typeface="Arial"/>
                        </a:rPr>
                        <a:t>Access</a:t>
                      </a:r>
                    </a:p>
                  </a:txBody>
                  <a:tcPr marL="133350" marR="133350" marT="95250" marB="95250" anchor="ctr">
                    <a:solidFill>
                      <a:srgbClr val="FFFD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241F"/>
                          </a:solidFill>
                          <a:latin typeface="Arial"/>
                          <a:ea typeface="Arial"/>
                          <a:cs typeface="Arial"/>
                        </a:rPr>
                        <a:t>UC01–UC03</a:t>
                      </a:r>
                    </a:p>
                  </a:txBody>
                  <a:tcPr marL="133350" marR="133350" marT="95250" marB="95250" anchor="ctr">
                    <a:solidFill>
                      <a:srgbClr val="FFFD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241F"/>
                          </a:solidFill>
                          <a:latin typeface="Arial"/>
                          <a:ea typeface="Arial"/>
                          <a:cs typeface="Arial"/>
                        </a:rPr>
                        <a:t>Account, private group and invitation</a:t>
                      </a:r>
                    </a:p>
                  </a:txBody>
                  <a:tcPr marL="133350" marR="133350" marT="95250" marB="95250" anchor="ctr">
                    <a:solidFill>
                      <a:srgbClr val="FFFDF9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241F"/>
                          </a:solidFill>
                          <a:latin typeface="Arial"/>
                          <a:ea typeface="Arial"/>
                          <a:cs typeface="Arial"/>
                        </a:rPr>
                        <a:t>Capture</a:t>
                      </a:r>
                    </a:p>
                  </a:txBody>
                  <a:tcPr marL="133350" marR="133350" marT="95250" marB="95250" anchor="ctr">
                    <a:solidFill>
                      <a:srgbClr val="FFFD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241F"/>
                          </a:solidFill>
                          <a:latin typeface="Arial"/>
                          <a:ea typeface="Arial"/>
                          <a:cs typeface="Arial"/>
                        </a:rPr>
                        <a:t>UC04–UC06</a:t>
                      </a:r>
                    </a:p>
                  </a:txBody>
                  <a:tcPr marL="133350" marR="133350" marT="95250" marB="95250" anchor="ctr">
                    <a:solidFill>
                      <a:srgbClr val="FFFD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241F"/>
                          </a:solidFill>
                          <a:latin typeface="Arial"/>
                          <a:ea typeface="Arial"/>
                          <a:cs typeface="Arial"/>
                        </a:rPr>
                        <a:t>Video/photo, review, allowance and correction</a:t>
                      </a:r>
                    </a:p>
                  </a:txBody>
                  <a:tcPr marL="133350" marR="133350" marT="95250" marB="95250" anchor="ctr">
                    <a:solidFill>
                      <a:srgbClr val="FFFDF9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241F"/>
                          </a:solidFill>
                          <a:latin typeface="Arial"/>
                          <a:ea typeface="Arial"/>
                          <a:cs typeface="Arial"/>
                        </a:rPr>
                        <a:t>Cycle</a:t>
                      </a:r>
                    </a:p>
                  </a:txBody>
                  <a:tcPr marL="133350" marR="133350" marT="95250" marB="95250" anchor="ctr">
                    <a:solidFill>
                      <a:srgbClr val="FFFD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241F"/>
                          </a:solidFill>
                          <a:latin typeface="Arial"/>
                          <a:ea typeface="Arial"/>
                          <a:cs typeface="Arial"/>
                        </a:rPr>
                        <a:t>UC07–UC08</a:t>
                      </a:r>
                    </a:p>
                  </a:txBody>
                  <a:tcPr marL="133350" marR="133350" marT="95250" marB="95250" anchor="ctr">
                    <a:solidFill>
                      <a:srgbClr val="FFFD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241F"/>
                          </a:solidFill>
                          <a:latin typeface="Arial"/>
                          <a:ea typeface="Arial"/>
                          <a:cs typeface="Arial"/>
                        </a:rPr>
                        <a:t>Close collection, compile, reveal and retain</a:t>
                      </a:r>
                    </a:p>
                  </a:txBody>
                  <a:tcPr marL="133350" marR="133350" marT="95250" marB="95250" anchor="ctr">
                    <a:solidFill>
                      <a:srgbClr val="FFFDF9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241F"/>
                          </a:solidFill>
                          <a:latin typeface="Arial"/>
                          <a:ea typeface="Arial"/>
                          <a:cs typeface="Arial"/>
                        </a:rPr>
                        <a:t>Participation</a:t>
                      </a:r>
                    </a:p>
                  </a:txBody>
                  <a:tcPr marL="133350" marR="133350" marT="95250" marB="95250" anchor="ctr">
                    <a:solidFill>
                      <a:srgbClr val="FFFD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241F"/>
                          </a:solidFill>
                          <a:latin typeface="Arial"/>
                          <a:ea typeface="Arial"/>
                          <a:cs typeface="Arial"/>
                        </a:rPr>
                        <a:t>UC09–UC11</a:t>
                      </a:r>
                    </a:p>
                  </a:txBody>
                  <a:tcPr marL="133350" marR="133350" marT="95250" marB="95250" anchor="ctr">
                    <a:solidFill>
                      <a:srgbClr val="FFFD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241F"/>
                          </a:solidFill>
                          <a:latin typeface="Arial"/>
                          <a:ea typeface="Arial"/>
                          <a:cs typeface="Arial"/>
                        </a:rPr>
                        <a:t>Prompt, opt-in reminder and private chat</a:t>
                      </a:r>
                    </a:p>
                  </a:txBody>
                  <a:tcPr marL="133350" marR="133350" marT="95250" marB="95250" anchor="ctr">
                    <a:solidFill>
                      <a:srgbClr val="FFFDF9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241F"/>
                          </a:solidFill>
                          <a:latin typeface="Arial"/>
                          <a:ea typeface="Arial"/>
                          <a:cs typeface="Arial"/>
                        </a:rPr>
                        <a:t>Archive and client</a:t>
                      </a:r>
                    </a:p>
                  </a:txBody>
                  <a:tcPr marL="133350" marR="133350" marT="95250" marB="95250" anchor="ctr">
                    <a:solidFill>
                      <a:srgbClr val="FFFD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241F"/>
                          </a:solidFill>
                          <a:latin typeface="Arial"/>
                          <a:ea typeface="Arial"/>
                          <a:cs typeface="Arial"/>
                        </a:rPr>
                        <a:t>UC12–UC14</a:t>
                      </a:r>
                    </a:p>
                  </a:txBody>
                  <a:tcPr marL="133350" marR="133350" marT="95250" marB="95250" anchor="ctr">
                    <a:solidFill>
                      <a:srgbClr val="FFFD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241F"/>
                          </a:solidFill>
                          <a:latin typeface="Arial"/>
                          <a:ea typeface="Arial"/>
                          <a:cs typeface="Arial"/>
                        </a:rPr>
                        <a:t>Playback, authorized download and install/update</a:t>
                      </a:r>
                    </a:p>
                  </a:txBody>
                  <a:tcPr marL="133350" marR="133350" marT="95250" marB="95250" anchor="ctr">
                    <a:solidFill>
                      <a:srgbClr val="FFFDF9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5D937D-2B52-4E3B-9E58-3EEC8AE7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8108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B625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B6258"/>
                </a:solidFill>
                <a:latin typeface="Arial"/>
                <a:ea typeface="Arial"/>
                <a:cs typeface="Arial"/>
              </a:rPr>
              <a:t>Public feeds, discovery and broader account management remain outside the first delivery.</a:t>
            </a:r>
          </a:p>
        </p:txBody>
      </p:sp>
    </p:spTree>
    <p:extLst>
      <p:ext uri="{BB962C8B-B14F-4D97-AF65-F5344CB8AC3E}">
        <p14:creationId xmlns:p14="http://schemas.microsoft.com/office/powerpoint/2010/main" val="19484638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AE7172-6B5D-4FA9-9D18-CDF842D5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924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241F"/>
                </a:solidFill>
                <a:latin typeface="Arial"/>
                <a:ea typeface="Arial"/>
                <a:cs typeface="Arial"/>
              </a:rPr>
              <a:t>Current pilot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1396AE-D645-41C4-8842-018E7A4D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A57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374425-7C22-41CB-B009-0EC2B02D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62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B6258"/>
                </a:solidFill>
                <a:latin typeface="Arial"/>
                <a:ea typeface="Arial"/>
                <a:cs typeface="Arial"/>
              </a:rPr>
              <a:t>Sprint 2 draft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5519C5-3666-4A63-A013-AE82A6B6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484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B62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B625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112FC5-67C8-4A29-9EC3-38AE6FB1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26098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B6258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9241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9241F"/>
                </a:solidFill>
                <a:latin typeface="Arial"/>
                <a:ea typeface="Arial"/>
                <a:cs typeface="Arial"/>
              </a:rPr>
              <a:t>Expo / React</a:t>
            </a:r>
          </a:p>
          <a:p xmlns:a="http://schemas.openxmlformats.org/drawingml/2006/main">
            <a:pPr algn="ctr">
              <a:defRPr sz="1800">
                <a:solidFill>
                  <a:srgbClr val="29241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9241F"/>
                </a:solidFill>
                <a:latin typeface="Arial"/>
                <a:ea typeface="Arial"/>
                <a:cs typeface="Arial"/>
              </a:rPr>
              <a:t>Web and PWA</a:t>
            </a:r>
          </a:p>
          <a:p xmlns:a="http://schemas.openxmlformats.org/drawingml/2006/main">
            <a:pPr algn="ctr">
              <a:defRPr sz="1800">
                <a:solidFill>
                  <a:srgbClr val="29241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9241F"/>
                </a:solidFill>
                <a:latin typeface="Arial"/>
                <a:ea typeface="Arial"/>
                <a:cs typeface="Arial"/>
              </a:rPr>
              <a:t>Native adapters share UI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AEB497-82B2-40D7-8C16-51A11030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57350"/>
            <a:ext cx="27813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B6258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9241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9241F"/>
                </a:solidFill>
                <a:latin typeface="Arial"/>
                <a:ea typeface="Arial"/>
                <a:cs typeface="Arial"/>
              </a:rPr>
              <a:t>Typed API and</a:t>
            </a:r>
          </a:p>
          <a:p xmlns:a="http://schemas.openxmlformats.org/drawingml/2006/main">
            <a:pPr algn="ctr">
              <a:defRPr sz="1800">
                <a:solidFill>
                  <a:srgbClr val="29241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9241F"/>
                </a:solidFill>
                <a:latin typeface="Arial"/>
                <a:ea typeface="Arial"/>
                <a:cs typeface="Arial"/>
              </a:rPr>
              <a:t>capture adapters</a:t>
            </a:r>
          </a:p>
          <a:p xmlns:a="http://schemas.openxmlformats.org/drawingml/2006/main">
            <a:pPr algn="ctr">
              <a:defRPr sz="1800">
                <a:solidFill>
                  <a:srgbClr val="29241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9241F"/>
                </a:solidFill>
                <a:latin typeface="Arial"/>
                <a:ea typeface="Arial"/>
                <a:cs typeface="Arial"/>
              </a:rPr>
              <a:t>Public-only shell cache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84C98C-4134-4F3C-A685-D3006292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57350"/>
            <a:ext cx="36004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B6258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9241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9241F"/>
                </a:solidFill>
                <a:latin typeface="Arial"/>
                <a:ea typeface="Arial"/>
                <a:cs typeface="Arial"/>
              </a:rPr>
              <a:t>Node HTTP boundary</a:t>
            </a:r>
          </a:p>
          <a:p xmlns:a="http://schemas.openxmlformats.org/drawingml/2006/main">
            <a:pPr algn="ctr">
              <a:defRPr sz="1800">
                <a:solidFill>
                  <a:srgbClr val="29241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9241F"/>
                </a:solidFill>
                <a:latin typeface="Arial"/>
                <a:ea typeface="Arial"/>
                <a:cs typeface="Arial"/>
              </a:rPr>
              <a:t>Session, selected group</a:t>
            </a:r>
          </a:p>
          <a:p xmlns:a="http://schemas.openxmlformats.org/drawingml/2006/main">
            <a:pPr algn="ctr">
              <a:defRPr sz="1800">
                <a:solidFill>
                  <a:srgbClr val="29241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9241F"/>
                </a:solidFill>
                <a:latin typeface="Arial"/>
                <a:ea typeface="Arial"/>
                <a:cs typeface="Arial"/>
              </a:rPr>
              <a:t>and membership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DBE6D2-FA17-44AB-814C-739997DF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24250"/>
            <a:ext cx="27813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B6258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9241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9241F"/>
                </a:solidFill>
                <a:latin typeface="Arial"/>
                <a:ea typeface="Arial"/>
                <a:cs typeface="Arial"/>
              </a:rPr>
              <a:t>Group, chat, reminders</a:t>
            </a:r>
          </a:p>
          <a:p xmlns:a="http://schemas.openxmlformats.org/drawingml/2006/main">
            <a:pPr algn="ctr">
              <a:defRPr sz="1800">
                <a:solidFill>
                  <a:srgbClr val="29241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9241F"/>
                </a:solidFill>
                <a:latin typeface="Arial"/>
                <a:ea typeface="Arial"/>
                <a:cs typeface="Arial"/>
              </a:rPr>
              <a:t>Contribution and</a:t>
            </a:r>
          </a:p>
          <a:p xmlns:a="http://schemas.openxmlformats.org/drawingml/2006/main">
            <a:pPr algn="ctr">
              <a:defRPr sz="1800">
                <a:solidFill>
                  <a:srgbClr val="29241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9241F"/>
                </a:solidFill>
                <a:latin typeface="Arial"/>
                <a:ea typeface="Arial"/>
                <a:cs typeface="Arial"/>
              </a:rPr>
              <a:t>cycle lifecycle functions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4BE690-C42C-4B31-9503-F5AB0CFB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24250"/>
            <a:ext cx="36004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B6258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9241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9241F"/>
                </a:solidFill>
                <a:latin typeface="Arial"/>
                <a:ea typeface="Arial"/>
                <a:cs typeface="Arial"/>
              </a:rPr>
              <a:t>Durable jobs and leases</a:t>
            </a:r>
          </a:p>
          <a:p xmlns:a="http://schemas.openxmlformats.org/drawingml/2006/main">
            <a:pPr algn="ctr">
              <a:defRPr sz="1800">
                <a:solidFill>
                  <a:srgbClr val="29241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9241F"/>
                </a:solidFill>
                <a:latin typeface="Arial"/>
                <a:ea typeface="Arial"/>
                <a:cs typeface="Arial"/>
              </a:rPr>
              <a:t>Bounded retry</a:t>
            </a:r>
          </a:p>
          <a:p xmlns:a="http://schemas.openxmlformats.org/drawingml/2006/main">
            <a:pPr algn="ctr">
              <a:defRPr sz="1800">
                <a:solidFill>
                  <a:srgbClr val="29241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9241F"/>
                </a:solidFill>
                <a:latin typeface="Arial"/>
                <a:ea typeface="Arial"/>
                <a:cs typeface="Arial"/>
              </a:rPr>
              <a:t>FFmpeg processing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34195B-20C9-4964-A75B-995B98DE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53050"/>
            <a:ext cx="27813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B6258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9241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9241F"/>
                </a:solidFill>
                <a:latin typeface="Arial"/>
                <a:ea typeface="Arial"/>
                <a:cs typeface="Arial"/>
              </a:rPr>
              <a:t>SQLite metadata</a:t>
            </a:r>
          </a:p>
          <a:p xmlns:a="http://schemas.openxmlformats.org/drawingml/2006/main">
            <a:pPr algn="ctr">
              <a:defRPr sz="1800">
                <a:solidFill>
                  <a:srgbClr val="29241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9241F"/>
                </a:solidFill>
                <a:latin typeface="Arial"/>
                <a:ea typeface="Arial"/>
                <a:cs typeface="Arial"/>
              </a:rPr>
              <a:t>Receipts and events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CCD7CE-7158-4E21-A74B-9A23ACE2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53050"/>
            <a:ext cx="36004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B6258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9241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9241F"/>
                </a:solidFill>
                <a:latin typeface="Arial"/>
                <a:ea typeface="Arial"/>
                <a:cs typeface="Arial"/>
              </a:rPr>
              <a:t>Media-store adapter</a:t>
            </a:r>
          </a:p>
          <a:p xmlns:a="http://schemas.openxmlformats.org/drawingml/2006/main">
            <a:pPr algn="ctr">
              <a:defRPr sz="1800">
                <a:solidFill>
                  <a:srgbClr val="29241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9241F"/>
                </a:solidFill>
                <a:latin typeface="Arial"/>
                <a:ea typeface="Arial"/>
                <a:cs typeface="Arial"/>
              </a:rPr>
              <a:t>Local store, S3 gated</a:t>
            </a:r>
          </a:p>
        </p:txBody>
      </p: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219450" y="2209800"/>
            <a:ext cx="971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B6258"/>
            </a:solidFill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972300" y="2209800"/>
            <a:ext cx="1009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B6258"/>
            </a:solidFill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5581650" y="2762250"/>
            <a:ext cx="4200525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B6258"/>
            </a:solidFill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9782175" y="2762250"/>
            <a:ext cx="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B6258"/>
            </a:solidFill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8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5581650" y="4629150"/>
            <a:ext cx="0" cy="723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B6258"/>
            </a:solidFill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9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9782175" y="4629150"/>
            <a:ext cx="0" cy="723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B6258"/>
            </a:solidFill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11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6972300" y="5734050"/>
            <a:ext cx="1009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B6258"/>
            </a:solidFill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ACCF9C-BAD2-4234-BE86-74294049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9241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9241F"/>
                </a:solidFill>
                <a:latin typeface="Arial"/>
                <a:ea typeface="Arial"/>
                <a:cs typeface="Arial"/>
              </a:rPr>
              <a:t>Password account pilot</a:t>
            </a:r>
          </a:p>
          <a:p xmlns:a="http://schemas.openxmlformats.org/drawingml/2006/main">
            <a:pPr algn="l">
              <a:defRPr sz="1950" b="0">
                <a:solidFill>
                  <a:srgbClr val="29241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9241F"/>
                </a:solidFill>
                <a:latin typeface="Arial"/>
                <a:ea typeface="Arial"/>
                <a:cs typeface="Arial"/>
              </a:rPr>
              <a:t>Real and Demo identities</a:t>
            </a:r>
          </a:p>
          <a:p xmlns:a="http://schemas.openxmlformats.org/drawingml/2006/main">
            <a:pPr algn="l">
              <a:defRPr sz="1950" b="0">
                <a:solidFill>
                  <a:srgbClr val="29241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9241F"/>
                </a:solidFill>
                <a:latin typeface="Arial"/>
                <a:ea typeface="Arial"/>
                <a:cs typeface="Arial"/>
              </a:rPr>
              <a:t>remain separate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50D5DC-F707-4C38-9FDF-4FA0FF35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295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B62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B6258"/>
                </a:solidFill>
                <a:latin typeface="Arial"/>
                <a:ea typeface="Arial"/>
                <a:cs typeface="Arial"/>
              </a:rPr>
              <a:t>Same-origin HTTPS /api</a:t>
            </a:r>
          </a:p>
          <a:p xmlns:a="http://schemas.openxmlformats.org/drawingml/2006/main">
            <a:pPr algn="l">
              <a:defRPr sz="1650" b="0">
                <a:solidFill>
                  <a:srgbClr val="6B62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B6258"/>
                </a:solidFill>
                <a:latin typeface="Arial"/>
                <a:ea typeface="Arial"/>
                <a:cs typeface="Arial"/>
              </a:rPr>
              <a:t>Cookie for browser authority</a:t>
            </a:r>
          </a:p>
          <a:p xmlns:a="http://schemas.openxmlformats.org/drawingml/2006/main">
            <a:pPr algn="l">
              <a:defRPr sz="1650" b="0">
                <a:solidFill>
                  <a:srgbClr val="6B62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B6258"/>
                </a:solidFill>
                <a:latin typeface="Arial"/>
                <a:ea typeface="Arial"/>
                <a:cs typeface="Arial"/>
              </a:rPr>
              <a:t>Opaque token for native</a:t>
            </a:r>
          </a:p>
        </p:txBody>
      </p:sp>
    </p:spTree>
    <p:extLst>
      <p:ext uri="{BB962C8B-B14F-4D97-AF65-F5344CB8AC3E}">
        <p14:creationId xmlns:p14="http://schemas.microsoft.com/office/powerpoint/2010/main" val="6266612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A9343E-D5E5-4C62-94DF-0BA1F021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924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241F"/>
                </a:solidFill>
                <a:latin typeface="Arial"/>
                <a:ea typeface="Arial"/>
                <a:cs typeface="Arial"/>
              </a:rPr>
              <a:t>Quota, lifecycle and private-media tension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02F675-6B7E-4D28-9F52-D06E6246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A57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949563-C2F0-4FA8-A16C-816E841F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62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B6258"/>
                </a:solidFill>
                <a:latin typeface="Arial"/>
                <a:ea typeface="Arial"/>
                <a:cs typeface="Arial"/>
              </a:rPr>
              <a:t>Sprint 2 draft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826923-BFE2-4E04-A1AD-EAFE084C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484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B62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B625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E0F451-CF36-4656-9FE6-8E96653C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9241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9241F"/>
                </a:solidFill>
                <a:latin typeface="Arial"/>
                <a:ea typeface="Arial"/>
                <a:cs typeface="Arial"/>
              </a:rPr>
              <a:t>Contribution consistency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1AD799-628B-4600-BF61-50B1F63D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19250"/>
            <a:ext cx="701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9241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9241F"/>
                </a:solidFill>
                <a:latin typeface="Arial"/>
                <a:ea typeface="Arial"/>
                <a:cs typeface="Arial"/>
              </a:rPr>
              <a:t>Five items and 30 seconds in the quota window.</a:t>
            </a:r>
          </a:p>
          <a:p xmlns:a="http://schemas.openxmlformats.org/drawingml/2006/main">
            <a:pPr algn="l">
              <a:defRPr sz="1950" b="0">
                <a:solidFill>
                  <a:srgbClr val="29241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9241F"/>
                </a:solidFill>
                <a:latin typeface="Arial"/>
                <a:ea typeface="Arial"/>
                <a:cs typeface="Arial"/>
              </a:rPr>
              <a:t>Acceptance, quota reservation and retry identity agree in one transaction.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5C55D4-511F-41A4-90DC-39CB184E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3714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9241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9241F"/>
                </a:solidFill>
                <a:latin typeface="Arial"/>
                <a:ea typeface="Arial"/>
                <a:cs typeface="Arial"/>
              </a:rPr>
              <a:t>Recoverable time boundaries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1C4DF2-5EE9-4772-9871-99F80FE6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14675"/>
            <a:ext cx="7010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9241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9241F"/>
                </a:solidFill>
                <a:latin typeface="Arial"/>
                <a:ea typeface="Arial"/>
                <a:cs typeface="Arial"/>
              </a:rPr>
              <a:t>Closure creates the successor and durable film work.</a:t>
            </a:r>
          </a:p>
          <a:p xmlns:a="http://schemas.openxmlformats.org/drawingml/2006/main">
            <a:pPr algn="l">
              <a:defRPr sz="1950" b="0">
                <a:solidFill>
                  <a:srgbClr val="29241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9241F"/>
                </a:solidFill>
                <a:latin typeface="Arial"/>
                <a:ea typeface="Arial"/>
                <a:cs typeface="Arial"/>
              </a:rPr>
              <a:t>Verified output controls publication. Premiere lasts 24 hours from publication.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10430C-AD75-4024-AC88-940C7256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3925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9241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9241F"/>
                </a:solidFill>
                <a:latin typeface="Arial"/>
                <a:ea typeface="Arial"/>
                <a:cs typeface="Arial"/>
              </a:rPr>
              <a:t>Fresh media authority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80E54B-8481-48F1-8B02-8909A2EA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733925"/>
            <a:ext cx="7010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9241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9241F"/>
                </a:solidFill>
                <a:latin typeface="Arial"/>
                <a:ea typeface="Arial"/>
                <a:cs typeface="Arial"/>
              </a:rPr>
              <a:t>Playback/download recheck session, group, release and exact media.</a:t>
            </a:r>
          </a:p>
          <a:p xmlns:a="http://schemas.openxmlformats.org/drawingml/2006/main">
            <a:pPr algn="l">
              <a:defRPr sz="1950" b="0">
                <a:solidFill>
                  <a:srgbClr val="29241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9241F"/>
                </a:solidFill>
                <a:latin typeface="Arial"/>
                <a:ea typeface="Arial"/>
                <a:cs typeface="Arial"/>
              </a:rPr>
              <a:t>Group or session changes clear stale protected context.</a:t>
            </a:r>
          </a:p>
        </p:txBody>
      </p:sp>
    </p:spTree>
    <p:extLst>
      <p:ext uri="{BB962C8B-B14F-4D97-AF65-F5344CB8AC3E}">
        <p14:creationId xmlns:p14="http://schemas.microsoft.com/office/powerpoint/2010/main" val="5600073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8560AA-1883-4933-8BFE-DFDD0606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924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241F"/>
                </a:solidFill>
                <a:latin typeface="Arial"/>
                <a:ea typeface="Arial"/>
                <a:cs typeface="Arial"/>
              </a:rPr>
              <a:t>Pattern comparison for cycle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245880-BAEC-4449-BEF1-415D00A4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A57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FB3E9D-FBBC-4CEB-A0E9-3F971E0F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62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B6258"/>
                </a:solidFill>
                <a:latin typeface="Arial"/>
                <a:ea typeface="Arial"/>
                <a:cs typeface="Arial"/>
              </a:rPr>
              <a:t>Sprint 2 draft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82C346-85C7-49D7-AE2D-5CA6AA35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484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B62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B625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3810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47900"/>
                <a:gridCol w="3581400"/>
                <a:gridCol w="5143500"/>
              </a:tblGrid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9241F"/>
                          </a:solidFill>
                          <a:latin typeface="Arial"/>
                          <a:ea typeface="Arial"/>
                          <a:cs typeface="Arial"/>
                        </a:rPr>
                        <a:t>Candidate</a:t>
                      </a:r>
                    </a:p>
                  </a:txBody>
                  <a:tcPr marL="133350" marR="133350" marT="95250" marB="95250" anchor="ctr">
                    <a:solidFill>
                      <a:srgbClr val="FFF0E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9241F"/>
                          </a:solidFill>
                          <a:latin typeface="Arial"/>
                          <a:ea typeface="Arial"/>
                          <a:cs typeface="Arial"/>
                        </a:rPr>
                        <a:t>Useful idea</a:t>
                      </a:r>
                    </a:p>
                  </a:txBody>
                  <a:tcPr marL="133350" marR="133350" marT="95250" marB="95250" anchor="ctr">
                    <a:solidFill>
                      <a:srgbClr val="FFF0E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9241F"/>
                          </a:solidFill>
                          <a:latin typeface="Arial"/>
                          <a:ea typeface="Arial"/>
                          <a:cs typeface="Arial"/>
                        </a:rPr>
                        <a:t>Decision in this implementation</a:t>
                      </a:r>
                    </a:p>
                  </a:txBody>
                  <a:tcPr marL="133350" marR="133350" marT="95250" marB="95250" anchor="ctr">
                    <a:solidFill>
                      <a:srgbClr val="FFF0E4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9241F"/>
                          </a:solidFill>
                          <a:latin typeface="Arial"/>
                          <a:ea typeface="Arial"/>
                          <a:cs typeface="Arial"/>
                        </a:rPr>
                        <a:t>State</a:t>
                      </a:r>
                    </a:p>
                  </a:txBody>
                  <a:tcPr marL="133350" marR="133350" marT="95250" marB="95250" anchor="ctr">
                    <a:solidFill>
                      <a:srgbClr val="FFFD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9241F"/>
                          </a:solidFill>
                          <a:latin typeface="Arial"/>
                          <a:ea typeface="Arial"/>
                          <a:cs typeface="Arial"/>
                        </a:rPr>
                        <a:t>Explicit allowed transitions</a:t>
                      </a:r>
                    </a:p>
                  </a:txBody>
                  <a:tcPr marL="133350" marR="133350" marT="95250" marB="95250" anchor="ctr">
                    <a:solidFill>
                      <a:srgbClr val="FFFD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9241F"/>
                          </a:solidFill>
                          <a:latin typeface="Arial"/>
                          <a:ea typeface="Arial"/>
                          <a:cs typeface="Arial"/>
                        </a:rPr>
                        <a:t>Persisted state and transactional functions avoid duplicate state objects</a:t>
                      </a:r>
                    </a:p>
                  </a:txBody>
                  <a:tcPr marL="133350" marR="133350" marT="95250" marB="95250" anchor="ctr">
                    <a:solidFill>
                      <a:srgbClr val="FFFDF9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9241F"/>
                          </a:solidFill>
                          <a:latin typeface="Arial"/>
                          <a:ea typeface="Arial"/>
                          <a:cs typeface="Arial"/>
                        </a:rPr>
                        <a:t>Command</a:t>
                      </a:r>
                    </a:p>
                  </a:txBody>
                  <a:tcPr marL="133350" marR="133350" marT="95250" marB="95250" anchor="ctr">
                    <a:solidFill>
                      <a:srgbClr val="FFFD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9241F"/>
                          </a:solidFill>
                          <a:latin typeface="Arial"/>
                          <a:ea typeface="Arial"/>
                          <a:cs typeface="Arial"/>
                        </a:rPr>
                        <a:t>Work identity and retry</a:t>
                      </a:r>
                    </a:p>
                  </a:txBody>
                  <a:tcPr marL="133350" marR="133350" marT="95250" marB="95250" anchor="ctr">
                    <a:solidFill>
                      <a:srgbClr val="FFFD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9241F"/>
                          </a:solidFill>
                          <a:latin typeface="Arial"/>
                          <a:ea typeface="Arial"/>
                          <a:cs typeface="Arial"/>
                        </a:rPr>
                        <a:t>Durable job/input rows survive restart</a:t>
                      </a:r>
                    </a:p>
                  </a:txBody>
                  <a:tcPr marL="133350" marR="133350" marT="95250" marB="95250" anchor="ctr">
                    <a:solidFill>
                      <a:srgbClr val="FFFDF9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9241F"/>
                          </a:solidFill>
                          <a:latin typeface="Arial"/>
                          <a:ea typeface="Arial"/>
                          <a:cs typeface="Arial"/>
                        </a:rPr>
                        <a:t>Polling</a:t>
                      </a:r>
                    </a:p>
                  </a:txBody>
                  <a:tcPr marL="133350" marR="133350" marT="95250" marB="95250" anchor="ctr">
                    <a:solidFill>
                      <a:srgbClr val="FFFD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9241F"/>
                          </a:solidFill>
                          <a:latin typeface="Arial"/>
                          <a:ea typeface="Arial"/>
                          <a:cs typeface="Arial"/>
                        </a:rPr>
                        <a:t>Discover due work</a:t>
                      </a:r>
                    </a:p>
                  </a:txBody>
                  <a:tcPr marL="133350" marR="133350" marT="95250" marB="95250" anchor="ctr">
                    <a:solidFill>
                      <a:srgbClr val="FFFD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9241F"/>
                          </a:solidFill>
                          <a:latin typeface="Arial"/>
                          <a:ea typeface="Arial"/>
                          <a:cs typeface="Arial"/>
                        </a:rPr>
                        <a:t>Wake-up mechanism, not the consistency guarantee</a:t>
                      </a:r>
                    </a:p>
                  </a:txBody>
                  <a:tcPr marL="133350" marR="133350" marT="95250" marB="95250" anchor="ctr">
                    <a:solidFill>
                      <a:srgbClr val="FFFDF9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9241F"/>
                          </a:solidFill>
                          <a:latin typeface="Arial"/>
                          <a:ea typeface="Arial"/>
                          <a:cs typeface="Arial"/>
                        </a:rPr>
                        <a:t>Selected design</a:t>
                      </a:r>
                    </a:p>
                  </a:txBody>
                  <a:tcPr marL="133350" marR="133350" marT="95250" marB="95250" anchor="ctr">
                    <a:solidFill>
                      <a:srgbClr val="FFFD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9241F"/>
                          </a:solidFill>
                          <a:latin typeface="Arial"/>
                          <a:ea typeface="Arial"/>
                          <a:cs typeface="Arial"/>
                        </a:rPr>
                        <a:t>Persisted transition plus queue</a:t>
                      </a:r>
                    </a:p>
                  </a:txBody>
                  <a:tcPr marL="133350" marR="133350" marT="95250" marB="95250" anchor="ctr">
                    <a:solidFill>
                      <a:srgbClr val="FFFD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9241F"/>
                          </a:solidFill>
                          <a:latin typeface="Arial"/>
                          <a:ea typeface="Arial"/>
                          <a:cs typeface="Arial"/>
                        </a:rPr>
                        <a:t>Unique receipts, leases and claim generations fence stale workers</a:t>
                      </a:r>
                    </a:p>
                  </a:txBody>
                  <a:tcPr marL="133350" marR="133350" marT="95250" marB="95250" anchor="ctr">
                    <a:solidFill>
                      <a:srgbClr val="FFFDF9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318F5D-7D44-4C24-BCE5-D3BBE033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8108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9241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9241F"/>
                </a:solidFill>
                <a:latin typeface="Arial"/>
                <a:ea typeface="Arial"/>
                <a:cs typeface="Arial"/>
              </a:rPr>
              <a:t>A worker executes outside the transaction, then commits only with its current claim and verified output.</a:t>
            </a:r>
          </a:p>
        </p:txBody>
      </p:sp>
    </p:spTree>
    <p:extLst>
      <p:ext uri="{BB962C8B-B14F-4D97-AF65-F5344CB8AC3E}">
        <p14:creationId xmlns:p14="http://schemas.microsoft.com/office/powerpoint/2010/main" val="2744937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D59180-DC7D-40E1-8317-20BFFEED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924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241F"/>
                </a:solidFill>
                <a:latin typeface="Arial"/>
                <a:ea typeface="Arial"/>
                <a:cs typeface="Arial"/>
              </a:rPr>
              <a:t>Future compliance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39FC77-6EA0-496B-A58C-25E8DD8A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A57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396870-55A6-421E-AA79-BB5600C3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62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B6258"/>
                </a:solidFill>
                <a:latin typeface="Arial"/>
                <a:ea typeface="Arial"/>
                <a:cs typeface="Arial"/>
              </a:rPr>
              <a:t>Sprint 2 draft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48D75A-F195-453D-A048-E875A3D4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484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B62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B625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F7717F-BB8C-4D68-A6E8-EC837205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B625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B6258"/>
                </a:solidFill>
                <a:latin typeface="Arial"/>
                <a:ea typeface="Arial"/>
                <a:cs typeface="Arial"/>
              </a:rPr>
              <a:t>Sprint 3 obligations remain pending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9FA1FE-473D-45A4-A853-D2F90FDF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4572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4"/>
          </a:solidFill>
          <a:ln xmlns:a="http://schemas.openxmlformats.org/drawingml/2006/main" w="14288">
            <a:solidFill>
              <a:srgbClr val="6B6258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9241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9241F"/>
                </a:solidFill>
                <a:latin typeface="Arial"/>
                <a:ea typeface="Arial"/>
                <a:cs typeface="Arial"/>
              </a:rPr>
              <a:t>Web/PWA and deferred native</a:t>
            </a:r>
          </a:p>
          <a:p xmlns:a="http://schemas.openxmlformats.org/drawingml/2006/main">
            <a:pPr algn="ctr">
              <a:defRPr sz="1800">
                <a:solidFill>
                  <a:srgbClr val="29241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9241F"/>
                </a:solidFill>
                <a:latin typeface="Arial"/>
                <a:ea typeface="Arial"/>
                <a:cs typeface="Arial"/>
              </a:rPr>
              <a:t>Pre-upload retro processing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84BB6E-8217-42CF-BC5E-3135F5F0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33600"/>
            <a:ext cx="49149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4"/>
          </a:solidFill>
          <a:ln xmlns:a="http://schemas.openxmlformats.org/drawingml/2006/main" w="14288">
            <a:solidFill>
              <a:srgbClr val="6B6258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9241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9241F"/>
                </a:solidFill>
                <a:latin typeface="Arial"/>
                <a:ea typeface="Arial"/>
                <a:cs typeface="Arial"/>
              </a:rPr>
              <a:t>Managed OIDC</a:t>
            </a:r>
          </a:p>
          <a:p xmlns:a="http://schemas.openxmlformats.org/drawingml/2006/main">
            <a:pPr algn="ctr">
              <a:defRPr sz="1800">
                <a:solidFill>
                  <a:srgbClr val="29241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9241F"/>
                </a:solidFill>
                <a:latin typeface="Arial"/>
                <a:ea typeface="Arial"/>
                <a:cs typeface="Arial"/>
              </a:rPr>
              <a:t>Identity mapping and reviewed session migration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065F0D-3342-4A46-B93E-9FF18A50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05225"/>
            <a:ext cx="457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4"/>
          </a:solidFill>
          <a:ln xmlns:a="http://schemas.openxmlformats.org/drawingml/2006/main" w="14288">
            <a:solidFill>
              <a:srgbClr val="6B6258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9241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9241F"/>
                </a:solidFill>
                <a:latin typeface="Arial"/>
                <a:ea typeface="Arial"/>
                <a:cs typeface="Arial"/>
              </a:rPr>
              <a:t>Reviewed API / workers</a:t>
            </a:r>
          </a:p>
          <a:p xmlns:a="http://schemas.openxmlformats.org/drawingml/2006/main">
            <a:pPr algn="ctr">
              <a:defRPr sz="1800">
                <a:solidFill>
                  <a:srgbClr val="29241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9241F"/>
                </a:solidFill>
                <a:latin typeface="Arial"/>
                <a:ea typeface="Arial"/>
                <a:cs typeface="Arial"/>
              </a:rPr>
              <a:t>Private group, media and lifecycle boundaries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E10AFD-C8C9-4435-BDD7-C5C1C8DB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5429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4"/>
          </a:solidFill>
          <a:ln xmlns:a="http://schemas.openxmlformats.org/drawingml/2006/main" w="14288">
            <a:solidFill>
              <a:srgbClr val="6B6258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9241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9241F"/>
                </a:solidFill>
                <a:latin typeface="Arial"/>
                <a:ea typeface="Arial"/>
                <a:cs typeface="Arial"/>
              </a:rPr>
              <a:t>PostgreSQL and managed recovery</a:t>
            </a:r>
          </a:p>
          <a:p xmlns:a="http://schemas.openxmlformats.org/drawingml/2006/main">
            <a:pPr algn="ctr">
              <a:defRPr sz="1800">
                <a:solidFill>
                  <a:srgbClr val="29241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9241F"/>
                </a:solidFill>
                <a:latin typeface="Arial"/>
                <a:ea typeface="Arial"/>
                <a:cs typeface="Arial"/>
              </a:rPr>
              <a:t>Reconciliation, cutover and restore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F5348C-CA43-40F8-BCD4-53BF78F1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19700"/>
            <a:ext cx="48196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4"/>
          </a:solidFill>
          <a:ln xmlns:a="http://schemas.openxmlformats.org/drawingml/2006/main" w="14288">
            <a:solidFill>
              <a:srgbClr val="6B6258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9241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9241F"/>
                </a:solidFill>
                <a:latin typeface="Arial"/>
                <a:ea typeface="Arial"/>
                <a:cs typeface="Arial"/>
              </a:rPr>
              <a:t>Private versioned storage</a:t>
            </a:r>
          </a:p>
          <a:p xmlns:a="http://schemas.openxmlformats.org/drawingml/2006/main">
            <a:pPr algn="ctr">
              <a:defRPr sz="1800">
                <a:solidFill>
                  <a:srgbClr val="29241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9241F"/>
                </a:solidFill>
                <a:latin typeface="Arial"/>
                <a:ea typeface="Arial"/>
                <a:cs typeface="Arial"/>
              </a:rPr>
              <a:t>Live delivery, provider receipts and inventory gates</a:t>
            </a:r>
          </a:p>
        </p:txBody>
      </p:sp>
      <p:cxnSp>
        <p:nvCxnSpPr>
          <p:cNvPr id="25" name=""/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2895600" y="3162300"/>
            <a:ext cx="320040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B6258"/>
            </a:solidFill>
            <a:tailEnd type="triangle" w="sm" len="sm"/>
          </a:ln>
        </p:spPr>
      </p:cxnSp>
      <p:cxnSp>
        <p:nvCxnSpPr>
          <p:cNvPr id="26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6096000" y="3162300"/>
            <a:ext cx="302895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B6258"/>
            </a:solidFill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3324225" y="4619625"/>
            <a:ext cx="2771775" cy="600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B6258"/>
            </a:solidFill>
            <a:tail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8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096000" y="4619625"/>
            <a:ext cx="3076575" cy="600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B6258"/>
            </a:solidFill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21087156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896E67-1425-4E13-8087-2BC6F2A8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924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241F"/>
                </a:solidFill>
                <a:latin typeface="Arial"/>
                <a:ea typeface="Arial"/>
                <a:cs typeface="Arial"/>
              </a:rPr>
              <a:t>Evidence across the four course areas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725C06-AB42-470A-9271-A4C088EF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A57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93D7D3-E02A-48BF-86B9-6D04652F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62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B6258"/>
                </a:solidFill>
                <a:latin typeface="Arial"/>
                <a:ea typeface="Arial"/>
                <a:cs typeface="Arial"/>
              </a:rPr>
              <a:t>Sprint 2 draft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8FC417-F450-4087-904A-F87B530E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484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B62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B625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552575"/>
          <a:ext xmlns:a="http://schemas.openxmlformats.org/drawingml/2006/main" cx="10972800" cy="42767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43175"/>
                <a:gridCol w="4171950"/>
                <a:gridCol w="4257675"/>
              </a:tblGrid>
              <a:tr h="8553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9241F"/>
                          </a:solidFill>
                          <a:latin typeface="Arial"/>
                          <a:ea typeface="Arial"/>
                          <a:cs typeface="Arial"/>
                        </a:rPr>
                        <a:t>Course area</a:t>
                      </a:r>
                    </a:p>
                  </a:txBody>
                  <a:tcPr marL="133350" marR="133350" marT="95250" marB="95250" anchor="ctr">
                    <a:solidFill>
                      <a:srgbClr val="FFF0E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9241F"/>
                          </a:solidFill>
                          <a:latin typeface="Arial"/>
                          <a:ea typeface="Arial"/>
                          <a:cs typeface="Arial"/>
                        </a:rPr>
                        <a:t>Draft evidence</a:t>
                      </a:r>
                    </a:p>
                  </a:txBody>
                  <a:tcPr marL="133350" marR="133350" marT="95250" marB="95250" anchor="ctr">
                    <a:solidFill>
                      <a:srgbClr val="FFF0E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9241F"/>
                          </a:solidFill>
                          <a:latin typeface="Arial"/>
                          <a:ea typeface="Arial"/>
                          <a:cs typeface="Arial"/>
                        </a:rPr>
                        <a:t>Remaining factual or delivery gap</a:t>
                      </a:r>
                    </a:p>
                  </a:txBody>
                  <a:tcPr marL="133350" marR="133350" marT="95250" marB="95250" anchor="ctr">
                    <a:solidFill>
                      <a:srgbClr val="FFF0E4"/>
                    </a:solidFill>
                  </a:tcPr>
                </a:tc>
              </a:tr>
              <a:tr h="8553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241F"/>
                          </a:solidFill>
                          <a:latin typeface="Arial"/>
                          <a:ea typeface="Arial"/>
                          <a:cs typeface="Arial"/>
                        </a:rPr>
                        <a:t>Agile practices</a:t>
                      </a:r>
                    </a:p>
                  </a:txBody>
                  <a:tcPr marL="133350" marR="133350" marT="95250" marB="95250" anchor="ctr">
                    <a:solidFill>
                      <a:srgbClr val="FFFD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241F"/>
                          </a:solidFill>
                          <a:latin typeface="Arial"/>
                          <a:ea typeface="Arial"/>
                          <a:cs typeface="Arial"/>
                        </a:rPr>
                        <a:t>Backlog, Sprint plans and focused PRs</a:t>
                      </a:r>
                    </a:p>
                  </a:txBody>
                  <a:tcPr marL="133350" marR="133350" marT="95250" marB="95250" anchor="ctr">
                    <a:solidFill>
                      <a:srgbClr val="FFFD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241F"/>
                          </a:solidFill>
                          <a:latin typeface="Arial"/>
                          <a:ea typeface="Arial"/>
                          <a:cs typeface="Arial"/>
                        </a:rPr>
                        <a:t>Actual Scrum outcomes and member effort</a:t>
                      </a:r>
                    </a:p>
                  </a:txBody>
                  <a:tcPr marL="133350" marR="133350" marT="95250" marB="95250" anchor="ctr">
                    <a:solidFill>
                      <a:srgbClr val="FFFDF9"/>
                    </a:solidFill>
                  </a:tcPr>
                </a:tc>
              </a:tr>
              <a:tr h="8553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241F"/>
                          </a:solidFill>
                          <a:latin typeface="Arial"/>
                          <a:ea typeface="Arial"/>
                          <a:cs typeface="Arial"/>
                        </a:rPr>
                        <a:t>Analysis and design</a:t>
                      </a:r>
                    </a:p>
                  </a:txBody>
                  <a:tcPr marL="133350" marR="133350" marT="95250" marB="95250" anchor="ctr">
                    <a:solidFill>
                      <a:srgbClr val="FFFD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241F"/>
                          </a:solidFill>
                          <a:latin typeface="Arial"/>
                          <a:ea typeface="Arial"/>
                          <a:cs typeface="Arial"/>
                        </a:rPr>
                        <a:t>UC01–UC14, paired flow models and source pins</a:t>
                      </a:r>
                    </a:p>
                  </a:txBody>
                  <a:tcPr marL="133350" marR="133350" marT="95250" marB="95250" anchor="ctr">
                    <a:solidFill>
                      <a:srgbClr val="FFFD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241F"/>
                          </a:solidFill>
                          <a:latin typeface="Arial"/>
                          <a:ea typeface="Arial"/>
                          <a:cs typeface="Arial"/>
                        </a:rPr>
                        <a:t>Full incorporation and final source refresh</a:t>
                      </a:r>
                    </a:p>
                  </a:txBody>
                  <a:tcPr marL="133350" marR="133350" marT="95250" marB="95250" anchor="ctr">
                    <a:solidFill>
                      <a:srgbClr val="FFFDF9"/>
                    </a:solidFill>
                  </a:tcPr>
                </a:tc>
              </a:tr>
              <a:tr h="8553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241F"/>
                          </a:solidFill>
                          <a:latin typeface="Arial"/>
                          <a:ea typeface="Arial"/>
                          <a:cs typeface="Arial"/>
                        </a:rPr>
                        <a:t>Design patterns</a:t>
                      </a:r>
                    </a:p>
                  </a:txBody>
                  <a:tcPr marL="133350" marR="133350" marT="95250" marB="95250" anchor="ctr">
                    <a:solidFill>
                      <a:srgbClr val="FFFD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241F"/>
                          </a:solidFill>
                          <a:latin typeface="Arial"/>
                          <a:ea typeface="Arial"/>
                          <a:cs typeface="Arial"/>
                        </a:rPr>
                        <a:t>Grounded candidates and functional implementation choices</a:t>
                      </a:r>
                    </a:p>
                  </a:txBody>
                  <a:tcPr marL="133350" marR="133350" marT="95250" marB="95250" anchor="ctr">
                    <a:solidFill>
                      <a:srgbClr val="FFFD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241F"/>
                          </a:solidFill>
                          <a:latin typeface="Arial"/>
                          <a:ea typeface="Arial"/>
                          <a:cs typeface="Arial"/>
                        </a:rPr>
                        <a:t>Human ownership and final model review</a:t>
                      </a:r>
                    </a:p>
                  </a:txBody>
                  <a:tcPr marL="133350" marR="133350" marT="95250" marB="95250" anchor="ctr">
                    <a:solidFill>
                      <a:srgbClr val="FFFDF9"/>
                    </a:solidFill>
                  </a:tcPr>
                </a:tc>
              </a:tr>
              <a:tr h="8553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241F"/>
                          </a:solidFill>
                          <a:latin typeface="Arial"/>
                          <a:ea typeface="Arial"/>
                          <a:cs typeface="Arial"/>
                        </a:rPr>
                        <a:t>DevSecOps</a:t>
                      </a:r>
                    </a:p>
                  </a:txBody>
                  <a:tcPr marL="133350" marR="133350" marT="95250" marB="95250" anchor="ctr">
                    <a:solidFill>
                      <a:srgbClr val="FFFD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241F"/>
                          </a:solidFill>
                          <a:latin typeface="Arial"/>
                          <a:ea typeface="Arial"/>
                          <a:cs typeface="Arial"/>
                        </a:rPr>
                        <a:t>Quality/security checks and release automation</a:t>
                      </a:r>
                    </a:p>
                  </a:txBody>
                  <a:tcPr marL="133350" marR="133350" marT="95250" marB="95250" anchor="ctr">
                    <a:solidFill>
                      <a:srgbClr val="FFFD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241F"/>
                          </a:solidFill>
                          <a:latin typeface="Arial"/>
                          <a:ea typeface="Arial"/>
                          <a:cs typeface="Arial"/>
                        </a:rPr>
                        <a:t>ENOSPC recovery and actual delivery acceptance</a:t>
                      </a:r>
                    </a:p>
                  </a:txBody>
                  <a:tcPr marL="133350" marR="133350" marT="95250" marB="95250" anchor="ctr">
                    <a:solidFill>
                      <a:srgbClr val="FFFD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49758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25D493-00C4-4B99-88FA-E9EF1F6D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924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241F"/>
                </a:solidFill>
                <a:latin typeface="Arial"/>
                <a:ea typeface="Arial"/>
                <a:cs typeface="Arial"/>
              </a:rPr>
              <a:t>Verified local scope and open delivery gates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D6941E-CE82-407E-964D-EDCA4736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A57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36CDD8-213C-4077-A7D2-DD82B6BE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62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B6258"/>
                </a:solidFill>
                <a:latin typeface="Arial"/>
                <a:ea typeface="Arial"/>
                <a:cs typeface="Arial"/>
              </a:rPr>
              <a:t>Sprint 2 draft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88DAD7-9688-46FF-A310-C6EDD159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484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B62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B625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552575"/>
          <a:ext xmlns:a="http://schemas.openxmlformats.org/drawingml/2006/main" cx="10972800" cy="4143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429000"/>
                <a:gridCol w="7543800"/>
              </a:tblGrid>
              <a:tr h="8286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9241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133350" marR="133350" marT="95250" marB="95250" anchor="ctr">
                    <a:solidFill>
                      <a:srgbClr val="FFF0E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9241F"/>
                          </a:solidFill>
                          <a:latin typeface="Arial"/>
                          <a:ea typeface="Arial"/>
                          <a:cs typeface="Arial"/>
                        </a:rPr>
                        <a:t>Actual scope</a:t>
                      </a:r>
                    </a:p>
                  </a:txBody>
                  <a:tcPr marL="133350" marR="133350" marT="95250" marB="95250" anchor="ctr">
                    <a:solidFill>
                      <a:srgbClr val="FFF0E4"/>
                    </a:solidFill>
                  </a:tcPr>
                </a:tc>
              </a:tr>
              <a:tr h="8286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241F"/>
                          </a:solidFill>
                          <a:latin typeface="Arial"/>
                          <a:ea typeface="Arial"/>
                          <a:cs typeface="Arial"/>
                        </a:rPr>
                        <a:t>Accepted source changes</a:t>
                      </a:r>
                    </a:p>
                  </a:txBody>
                  <a:tcPr marL="133350" marR="133350" marT="95250" marB="95250" anchor="ctr">
                    <a:solidFill>
                      <a:srgbClr val="FFFD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241F"/>
                          </a:solidFill>
                          <a:latin typeface="Arial"/>
                          <a:ea typeface="Arial"/>
                          <a:cs typeface="Arial"/>
                        </a:rPr>
                        <a:t>Photo group context #387, chat prefix #388, portrait guidance #392</a:t>
                      </a:r>
                    </a:p>
                  </a:txBody>
                  <a:tcPr marL="133350" marR="133350" marT="95250" marB="95250" anchor="ctr">
                    <a:solidFill>
                      <a:srgbClr val="FFFDF9"/>
                    </a:solidFill>
                  </a:tcPr>
                </a:tc>
              </a:tr>
              <a:tr h="8286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241F"/>
                          </a:solidFill>
                          <a:latin typeface="Arial"/>
                          <a:ea typeface="Arial"/>
                          <a:cs typeface="Arial"/>
                        </a:rPr>
                        <a:t>Local strict HTTPS Firefox #396</a:t>
                      </a:r>
                    </a:p>
                  </a:txBody>
                  <a:tcPr marL="133350" marR="133350" marT="95250" marB="95250" anchor="ctr">
                    <a:solidFill>
                      <a:srgbClr val="FFFD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241F"/>
                          </a:solidFill>
                          <a:latin typeface="Arial"/>
                          <a:ea typeface="Arial"/>
                          <a:cs typeface="Arial"/>
                        </a:rPr>
                        <a:t>Two fresh runs cover chat retry, group switching, synthetic media, cycle release and Archive</a:t>
                      </a:r>
                    </a:p>
                  </a:txBody>
                  <a:tcPr marL="133350" marR="133350" marT="95250" marB="95250" anchor="ctr">
                    <a:solidFill>
                      <a:srgbClr val="FFFDF9"/>
                    </a:solidFill>
                  </a:tcPr>
                </a:tc>
              </a:tr>
              <a:tr h="8286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241F"/>
                          </a:solidFill>
                          <a:latin typeface="Arial"/>
                          <a:ea typeface="Arial"/>
                          <a:cs typeface="Arial"/>
                        </a:rPr>
                        <a:t>Hosted Deploy dev</a:t>
                      </a:r>
                    </a:p>
                  </a:txBody>
                  <a:tcPr marL="133350" marR="133350" marT="95250" marB="95250" anchor="ctr">
                    <a:solidFill>
                      <a:srgbClr val="FFFD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241F"/>
                          </a:solidFill>
                          <a:latin typeface="Arial"/>
                          <a:ea typeface="Arial"/>
                          <a:cs typeface="Arial"/>
                        </a:rPr>
                        <a:t>Runs 37143129969 / 37143383024 failed host-side verification/staging with ENOSPC before activation</a:t>
                      </a:r>
                    </a:p>
                  </a:txBody>
                  <a:tcPr marL="133350" marR="133350" marT="95250" marB="95250" anchor="ctr">
                    <a:solidFill>
                      <a:srgbClr val="FFFDF9"/>
                    </a:solidFill>
                  </a:tcPr>
                </a:tc>
              </a:tr>
              <a:tr h="8286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241F"/>
                          </a:solidFill>
                          <a:latin typeface="Arial"/>
                          <a:ea typeface="Arial"/>
                          <a:cs typeface="Arial"/>
                        </a:rPr>
                        <a:t>Acceptance gates</a:t>
                      </a:r>
                    </a:p>
                  </a:txBody>
                  <a:tcPr marL="133350" marR="133350" marT="95250" marB="95250" anchor="ctr">
                    <a:solidFill>
                      <a:srgbClr val="FFFD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241F"/>
                          </a:solidFill>
                          <a:latin typeface="Arial"/>
                          <a:ea typeface="Arial"/>
                          <a:cs typeface="Arial"/>
                        </a:rPr>
                        <a:t>Actual Safari/Home Screen audio/lifecycle, hardware, hosted/S3 and provider outcomes</a:t>
                      </a:r>
                    </a:p>
                  </a:txBody>
                  <a:tcPr marL="133350" marR="133350" marT="95250" marB="95250" anchor="ctr">
                    <a:solidFill>
                      <a:srgbClr val="FFFDF9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290450-EC4D-4793-A01D-9D28503A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B625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B6258"/>
                </a:solidFill>
                <a:latin typeface="Arial"/>
                <a:ea typeface="Arial"/>
                <a:cs typeface="Arial"/>
              </a:rPr>
              <a:t>Local synthetic evidence does not establish physical-device or hosted delivery acceptance.</a:t>
            </a:r>
          </a:p>
        </p:txBody>
      </p:sp>
    </p:spTree>
    <p:extLst>
      <p:ext uri="{BB962C8B-B14F-4D97-AF65-F5344CB8AC3E}">
        <p14:creationId xmlns:p14="http://schemas.microsoft.com/office/powerpoint/2010/main" val="6077373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EEB142-C3B4-4456-9AF2-0502BBBC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924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241F"/>
                </a:solidFill>
                <a:latin typeface="Arial"/>
                <a:ea typeface="Arial"/>
                <a:cs typeface="Arial"/>
              </a:rPr>
              <a:t>Demo route with a disposable local fixture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908D2D-A577-4AF5-9616-2B5FEC75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A57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93B1D9-4B8D-434E-B6F5-CE75DAF8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62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B6258"/>
                </a:solidFill>
                <a:latin typeface="Arial"/>
                <a:ea typeface="Arial"/>
                <a:cs typeface="Arial"/>
              </a:rPr>
              <a:t>Sprint 2 draft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9B64C0-644D-4196-BED6-758D6B4E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484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B62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B6258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C1EEA2-FE79-45C0-BD2F-54C423BE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9241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241F"/>
                </a:solidFill>
                <a:latin typeface="Arial"/>
                <a:ea typeface="Arial"/>
                <a:cs typeface="Arial"/>
              </a:rPr>
              <a:t>1  Owner creates a group. Invited member joins.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B634E9-1D9E-49A3-ACAE-0808C38A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9241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241F"/>
                </a:solidFill>
                <a:latin typeface="Arial"/>
                <a:ea typeface="Arial"/>
                <a:cs typeface="Arial"/>
              </a:rPr>
              <a:t>2  Capture names the group. Chat keeps a lost-response retry.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6B59CE-D0FF-4BF0-AB54-BF1F4F75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9241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241F"/>
                </a:solidFill>
                <a:latin typeface="Arial"/>
                <a:ea typeface="Arial"/>
                <a:cs typeface="Arial"/>
              </a:rPr>
              <a:t>3  Member joins a second group and switches context.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30F4F3-4028-41E8-AA60-3E9317C9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9241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241F"/>
                </a:solidFill>
                <a:latin typeface="Arial"/>
                <a:ea typeface="Arial"/>
                <a:cs typeface="Arial"/>
              </a:rPr>
              <a:t>4  Synthetic media and controlled cycles reach released Archive.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45EE7E-3C51-4D09-A3FB-A6565B58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9241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241F"/>
                </a:solidFill>
                <a:latin typeface="Arial"/>
                <a:ea typeface="Arial"/>
                <a:cs typeface="Arial"/>
              </a:rPr>
              <a:t>5  Outsider access and reused media capability remain denied.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A09663-FF80-4430-91FA-4E51929B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B625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B6258"/>
                </a:solidFill>
                <a:latin typeface="Arial"/>
                <a:ea typeface="Arial"/>
                <a:cs typeface="Arial"/>
              </a:rPr>
              <a:t>Headless fixture route available. Visible rehearsal and hardware/hosted/provider acceptance remain separate work.</a:t>
            </a:r>
          </a:p>
        </p:txBody>
      </p:sp>
    </p:spTree>
    <p:extLst>
      <p:ext uri="{BB962C8B-B14F-4D97-AF65-F5344CB8AC3E}">
        <p14:creationId xmlns:p14="http://schemas.microsoft.com/office/powerpoint/2010/main" val="11032917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2026-10-03T19:17:31.4610000Z</dcterms:created>
  <dcterms:modified xsi:type="dcterms:W3CDTF">2026-10-03T19:17:31.4610000Z</dcterms:modified>
</coreProperties>
</file>